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505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1" d="100"/>
          <a:sy n="91" d="100"/>
        </p:scale>
        <p:origin x="852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926602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Shape 1"/>
          <p:cNvSpPr/>
          <p:nvPr/>
        </p:nvSpPr>
        <p:spPr>
          <a:xfrm>
            <a:off x="8961120" y="-1645920"/>
            <a:ext cx="5486400" cy="5486400"/>
          </a:xfrm>
          <a:prstGeom prst="ellipse">
            <a:avLst/>
          </a:prstGeom>
          <a:solidFill>
            <a:srgbClr val="121D33"/>
          </a:solidFill>
          <a:ln/>
        </p:spPr>
      </p:sp>
      <p:sp>
        <p:nvSpPr>
          <p:cNvPr id="4" name="Shape 2"/>
          <p:cNvSpPr/>
          <p:nvPr/>
        </p:nvSpPr>
        <p:spPr>
          <a:xfrm>
            <a:off x="10332720" y="4206240"/>
            <a:ext cx="3291840" cy="3291840"/>
          </a:xfrm>
          <a:prstGeom prst="ellipse">
            <a:avLst/>
          </a:prstGeom>
          <a:solidFill>
            <a:srgbClr val="A6323B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868680"/>
            <a:ext cx="822960" cy="822960"/>
          </a:xfrm>
          <a:prstGeom prst="ellipse">
            <a:avLst/>
          </a:prstGeom>
          <a:solidFill>
            <a:srgbClr val="D64550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8686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822960" y="2331720"/>
            <a:ext cx="9601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PHISHING AWARENESS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822960" y="3063240"/>
            <a:ext cx="9601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D645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TRAINING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822960" y="39776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E7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Recognizing, resisting, and reporting social-engineering attacks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22960" y="4663440"/>
            <a:ext cx="4286922" cy="0"/>
          </a:xfrm>
          <a:prstGeom prst="line">
            <a:avLst/>
          </a:prstGeom>
          <a:noFill/>
          <a:ln w="25400">
            <a:solidFill>
              <a:srgbClr val="D6455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48463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 smtClean="0">
                <a:solidFill>
                  <a:srgbClr val="9AA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by: </a:t>
            </a:r>
            <a:r>
              <a:rPr lang="en-US" sz="1300" b="1" dirty="0" smtClean="0">
                <a:solidFill>
                  <a:srgbClr val="9AA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Agha Ahmad Khan</a:t>
            </a:r>
          </a:p>
          <a:p>
            <a:pPr marL="0" indent="0">
              <a:buNone/>
            </a:pPr>
            <a:r>
              <a:rPr lang="en-US" sz="1300" b="1" dirty="0" smtClean="0">
                <a:solidFill>
                  <a:srgbClr val="9AA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CodeAlpha Ethical </a:t>
            </a:r>
            <a:r>
              <a:rPr lang="en-US" sz="1300" b="1" dirty="0">
                <a:solidFill>
                  <a:srgbClr val="9AA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Hacking </a:t>
            </a:r>
            <a:r>
              <a:rPr lang="en-US" sz="1300" b="1" dirty="0" smtClean="0">
                <a:solidFill>
                  <a:srgbClr val="9AA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Internship |  Task 02 Module </a:t>
            </a:r>
            <a:endParaRPr lang="en-US" sz="1300" b="1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0"/>
            <a:ext cx="91440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Phishing?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60350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is a social-engineering attack where a criminal impersonates a trusted </a:t>
            </a:r>
            <a:r>
              <a:rPr lang="en-US" sz="1500" dirty="0" smtClean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like </a:t>
            </a:r>
            <a:r>
              <a:rPr lang="en-US" sz="15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bank, colleague, or well-known service </a:t>
            </a:r>
            <a:r>
              <a:rPr lang="en-US" sz="1500" dirty="0" smtClean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5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trick a victim into revealing sensitive information or taking a harmful action.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3520440"/>
            <a:ext cx="292608" cy="292608"/>
          </a:xfrm>
          <a:prstGeom prst="ellipse">
            <a:avLst/>
          </a:prstGeom>
          <a:solidFill>
            <a:srgbClr val="D64550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35204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97280" y="3483864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Steal login credentials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40080" y="4087368"/>
            <a:ext cx="292608" cy="292608"/>
          </a:xfrm>
          <a:prstGeom prst="ellipse">
            <a:avLst/>
          </a:prstGeom>
          <a:solidFill>
            <a:srgbClr val="D64550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408736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097280" y="4050792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malware or ransomware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640080" y="4654296"/>
            <a:ext cx="292608" cy="292608"/>
          </a:xfrm>
          <a:prstGeom prst="ellipse">
            <a:avLst/>
          </a:prstGeom>
          <a:solidFill>
            <a:srgbClr val="D64550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465429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097280" y="46177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 financial fraud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640080" y="5221224"/>
            <a:ext cx="292608" cy="292608"/>
          </a:xfrm>
          <a:prstGeom prst="ellipse">
            <a:avLst/>
          </a:prstGeom>
          <a:solidFill>
            <a:srgbClr val="D64550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522122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097280" y="5184648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Gain a foothold into an organization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7040880" y="1417320"/>
            <a:ext cx="4480560" cy="4297680"/>
          </a:xfrm>
          <a:prstGeom prst="roundRect">
            <a:avLst>
              <a:gd name="adj" fmla="val 2553"/>
            </a:avLst>
          </a:prstGeom>
          <a:solidFill>
            <a:srgbClr val="F4F6F9"/>
          </a:solidFill>
          <a:ln/>
        </p:spPr>
      </p:sp>
      <p:sp>
        <p:nvSpPr>
          <p:cNvPr id="18" name="Text 16"/>
          <p:cNvSpPr/>
          <p:nvPr/>
        </p:nvSpPr>
        <p:spPr>
          <a:xfrm>
            <a:off x="7360920" y="164592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MILLION-DOLLAR PROBLEM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360920" y="2011680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D645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90%</a:t>
            </a:r>
            <a:endParaRPr lang="en-US" sz="6000" dirty="0"/>
          </a:p>
        </p:txBody>
      </p:sp>
      <p:sp>
        <p:nvSpPr>
          <p:cNvPr id="20" name="Text 18"/>
          <p:cNvSpPr/>
          <p:nvPr/>
        </p:nvSpPr>
        <p:spPr>
          <a:xfrm>
            <a:off x="7360920" y="2880360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successful cyberattacks begin with a phishing email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7360920" y="3657600"/>
            <a:ext cx="3566160" cy="0"/>
          </a:xfrm>
          <a:prstGeom prst="line">
            <a:avLst/>
          </a:prstGeom>
          <a:noFill/>
          <a:ln w="12700">
            <a:solidFill>
              <a:srgbClr val="D7DEE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360920" y="3794760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3.4B</a:t>
            </a:r>
            <a:endParaRPr lang="en-US" sz="4200" dirty="0"/>
          </a:p>
        </p:txBody>
      </p:sp>
      <p:sp>
        <p:nvSpPr>
          <p:cNvPr id="23" name="Text 21"/>
          <p:cNvSpPr/>
          <p:nvPr/>
        </p:nvSpPr>
        <p:spPr>
          <a:xfrm>
            <a:off x="7360920" y="4526280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emails sent worldwide every single day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457200" y="6473952"/>
            <a:ext cx="10744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i="1" dirty="0">
                <a:solidFill>
                  <a:srgbClr val="9AA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Awareness </a:t>
            </a:r>
            <a:r>
              <a:rPr lang="en-US" sz="900" i="1" dirty="0" smtClean="0">
                <a:solidFill>
                  <a:srgbClr val="9AA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</a:t>
            </a:r>
            <a:r>
              <a:rPr lang="en-US" sz="900" i="1" dirty="0">
                <a:solidFill>
                  <a:srgbClr val="9AA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</a:t>
            </a:r>
            <a:r>
              <a:rPr lang="en-US" sz="900" i="1" dirty="0" smtClean="0">
                <a:solidFill>
                  <a:srgbClr val="9AA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Task 02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0"/>
            <a:ext cx="91440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Types of Phishing Attacks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417320"/>
            <a:ext cx="3566160" cy="1965960"/>
          </a:xfrm>
          <a:prstGeom prst="roundRect">
            <a:avLst>
              <a:gd name="adj" fmla="val 4651"/>
            </a:avLst>
          </a:prstGeom>
          <a:solidFill>
            <a:srgbClr val="F4F6F9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1645920"/>
            <a:ext cx="502920" cy="50292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645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508760" y="160020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Email Phishing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68680" y="228600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Mass, generic emails impersonating a known brand or service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526280" y="1417320"/>
            <a:ext cx="3566160" cy="1965960"/>
          </a:xfrm>
          <a:prstGeom prst="roundRect">
            <a:avLst>
              <a:gd name="adj" fmla="val 4651"/>
            </a:avLst>
          </a:prstGeom>
          <a:solidFill>
            <a:srgbClr val="F4F6F9"/>
          </a:solidFill>
          <a:ln/>
        </p:spPr>
      </p:sp>
      <p:sp>
        <p:nvSpPr>
          <p:cNvPr id="10" name="Shape 8"/>
          <p:cNvSpPr/>
          <p:nvPr/>
        </p:nvSpPr>
        <p:spPr>
          <a:xfrm>
            <a:off x="4754880" y="1645920"/>
            <a:ext cx="502920" cy="50292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11" name="Text 9"/>
          <p:cNvSpPr/>
          <p:nvPr/>
        </p:nvSpPr>
        <p:spPr>
          <a:xfrm>
            <a:off x="4754880" y="1645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5394960" y="160020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Spear Phishing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754880" y="228600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Highly targeted, personalized to one specific victim or role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412480" y="1417320"/>
            <a:ext cx="3566160" cy="1965960"/>
          </a:xfrm>
          <a:prstGeom prst="roundRect">
            <a:avLst>
              <a:gd name="adj" fmla="val 4651"/>
            </a:avLst>
          </a:prstGeom>
          <a:solidFill>
            <a:srgbClr val="F4F6F9"/>
          </a:solidFill>
          <a:ln/>
        </p:spPr>
      </p:sp>
      <p:sp>
        <p:nvSpPr>
          <p:cNvPr id="15" name="Shape 13"/>
          <p:cNvSpPr/>
          <p:nvPr/>
        </p:nvSpPr>
        <p:spPr>
          <a:xfrm>
            <a:off x="8641080" y="1645920"/>
            <a:ext cx="502920" cy="50292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16" name="Text 14"/>
          <p:cNvSpPr/>
          <p:nvPr/>
        </p:nvSpPr>
        <p:spPr>
          <a:xfrm>
            <a:off x="8641080" y="1645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♚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9281160" y="160020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Whaling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641080" y="228600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Spear phishing aimed at executives or senior leadership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40080" y="3703320"/>
            <a:ext cx="3566160" cy="1965960"/>
          </a:xfrm>
          <a:prstGeom prst="roundRect">
            <a:avLst>
              <a:gd name="adj" fmla="val 4651"/>
            </a:avLst>
          </a:prstGeom>
          <a:solidFill>
            <a:srgbClr val="F4F6F9"/>
          </a:solidFill>
          <a:ln/>
        </p:spPr>
      </p:sp>
      <p:sp>
        <p:nvSpPr>
          <p:cNvPr id="20" name="Shape 18"/>
          <p:cNvSpPr/>
          <p:nvPr/>
        </p:nvSpPr>
        <p:spPr>
          <a:xfrm>
            <a:off x="868680" y="3931920"/>
            <a:ext cx="502920" cy="50292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21" name="Text 19"/>
          <p:cNvSpPr/>
          <p:nvPr/>
        </p:nvSpPr>
        <p:spPr>
          <a:xfrm>
            <a:off x="868680" y="3931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☎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1508760" y="388620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Smishing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868680" y="457200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delivered via SMS text messages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526280" y="3703320"/>
            <a:ext cx="3566160" cy="1965960"/>
          </a:xfrm>
          <a:prstGeom prst="roundRect">
            <a:avLst>
              <a:gd name="adj" fmla="val 4651"/>
            </a:avLst>
          </a:prstGeom>
          <a:solidFill>
            <a:srgbClr val="F4F6F9"/>
          </a:solidFill>
          <a:ln/>
        </p:spPr>
      </p:sp>
      <p:sp>
        <p:nvSpPr>
          <p:cNvPr id="25" name="Shape 23"/>
          <p:cNvSpPr/>
          <p:nvPr/>
        </p:nvSpPr>
        <p:spPr>
          <a:xfrm>
            <a:off x="4754880" y="3931920"/>
            <a:ext cx="502920" cy="50292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26" name="Text 24"/>
          <p:cNvSpPr/>
          <p:nvPr/>
        </p:nvSpPr>
        <p:spPr>
          <a:xfrm>
            <a:off x="4754880" y="3931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✆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5394960" y="388620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Vishing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4754880" y="457200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Voice-call phishing, often impersonating IT or a bank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8412480" y="3703320"/>
            <a:ext cx="3566160" cy="1965960"/>
          </a:xfrm>
          <a:prstGeom prst="roundRect">
            <a:avLst>
              <a:gd name="adj" fmla="val 4651"/>
            </a:avLst>
          </a:prstGeom>
          <a:solidFill>
            <a:srgbClr val="F4F6F9"/>
          </a:solidFill>
          <a:ln/>
        </p:spPr>
      </p:sp>
      <p:sp>
        <p:nvSpPr>
          <p:cNvPr id="30" name="Shape 28"/>
          <p:cNvSpPr/>
          <p:nvPr/>
        </p:nvSpPr>
        <p:spPr>
          <a:xfrm>
            <a:off x="8641080" y="3931920"/>
            <a:ext cx="502920" cy="50292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31" name="Text 29"/>
          <p:cNvSpPr/>
          <p:nvPr/>
        </p:nvSpPr>
        <p:spPr>
          <a:xfrm>
            <a:off x="8641080" y="3931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⧉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9281160" y="388620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Clone Phishing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8641080" y="457200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legitimate email is copied and its link/attachment is swapped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9AA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Awareness Training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731520"/>
            <a:ext cx="822960" cy="822960"/>
          </a:xfrm>
          <a:prstGeom prst="ellipse">
            <a:avLst/>
          </a:prstGeom>
          <a:solidFill>
            <a:srgbClr val="D64550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7315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✉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40080" y="1828800"/>
            <a:ext cx="3200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Red Flags in</a:t>
            </a:r>
            <a:endParaRPr lang="en-US" sz="26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Phishing Emails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40080" y="338328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E7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your eye to catch these signals before you click.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0" y="685800"/>
            <a:ext cx="365760" cy="365760"/>
          </a:xfrm>
          <a:prstGeom prst="ellipse">
            <a:avLst/>
          </a:prstGeom>
          <a:solidFill>
            <a:srgbClr val="D64550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0" y="6858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120640" y="630936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Spoofed sender address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5120640" y="97840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looks close but not identical, e.g. paypa1-support.com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0" y="1764792"/>
            <a:ext cx="365760" cy="365760"/>
          </a:xfrm>
          <a:prstGeom prst="ellipse">
            <a:avLst/>
          </a:prstGeom>
          <a:solidFill>
            <a:srgbClr val="D64550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0" y="17647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120640" y="170992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Urgency &amp; fear tactics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5120640" y="205740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“Act now or your account will be suspended”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0" y="2843784"/>
            <a:ext cx="365760" cy="365760"/>
          </a:xfrm>
          <a:prstGeom prst="ellipse">
            <a:avLst/>
          </a:prstGeom>
          <a:solidFill>
            <a:srgbClr val="D64550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0" y="284378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120640" y="278892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greetings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5120640" y="3136392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“Dear Customer” instead of your actual name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0" y="3922776"/>
            <a:ext cx="365760" cy="365760"/>
          </a:xfrm>
          <a:prstGeom prst="ellipse">
            <a:avLst/>
          </a:prstGeom>
          <a:solidFill>
            <a:srgbClr val="D64550"/>
          </a:solidFill>
          <a:ln/>
        </p:spPr>
      </p:sp>
      <p:sp>
        <p:nvSpPr>
          <p:cNvPr id="20" name="Text 18"/>
          <p:cNvSpPr/>
          <p:nvPr/>
        </p:nvSpPr>
        <p:spPr>
          <a:xfrm>
            <a:off x="4572000" y="392277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120640" y="3867912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Suspicious links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5120640" y="4215384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Hover to preview the real URL before clicking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572000" y="5001768"/>
            <a:ext cx="365760" cy="365760"/>
          </a:xfrm>
          <a:prstGeom prst="ellipse">
            <a:avLst/>
          </a:prstGeom>
          <a:solidFill>
            <a:srgbClr val="D64550"/>
          </a:solidFill>
          <a:ln/>
        </p:spPr>
      </p:sp>
      <p:sp>
        <p:nvSpPr>
          <p:cNvPr id="24" name="Text 22"/>
          <p:cNvSpPr/>
          <p:nvPr/>
        </p:nvSpPr>
        <p:spPr>
          <a:xfrm>
            <a:off x="4572000" y="50017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5120640" y="4946904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Unexpected attachments</a:t>
            </a:r>
            <a:endParaRPr lang="en-US" sz="1450" dirty="0"/>
          </a:p>
        </p:txBody>
      </p:sp>
      <p:sp>
        <p:nvSpPr>
          <p:cNvPr id="26" name="Text 24"/>
          <p:cNvSpPr/>
          <p:nvPr/>
        </p:nvSpPr>
        <p:spPr>
          <a:xfrm>
            <a:off x="5120640" y="5294376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Invoices, forms, or files you never requested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9AA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Awareness Training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0"/>
            <a:ext cx="91440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Spotting a Fake Website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417320"/>
            <a:ext cx="5303520" cy="4206240"/>
          </a:xfrm>
          <a:prstGeom prst="roundRect">
            <a:avLst>
              <a:gd name="adj" fmla="val 2609"/>
            </a:avLst>
          </a:prstGeom>
          <a:solidFill>
            <a:srgbClr val="F4F6F9"/>
          </a:solidFill>
          <a:ln/>
        </p:spPr>
      </p:sp>
      <p:sp>
        <p:nvSpPr>
          <p:cNvPr id="5" name="Shape 3"/>
          <p:cNvSpPr/>
          <p:nvPr/>
        </p:nvSpPr>
        <p:spPr>
          <a:xfrm>
            <a:off x="960120" y="1737360"/>
            <a:ext cx="502920" cy="50292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6" name="Text 4"/>
          <p:cNvSpPr/>
          <p:nvPr/>
        </p:nvSpPr>
        <p:spPr>
          <a:xfrm>
            <a:off x="960120" y="1737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↺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600200" y="173736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Check the Domain Carefully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960120" y="2423160"/>
            <a:ext cx="470916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97280" y="2423160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645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paypa1.com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97280" y="29718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lookalike character (“1” for “l”)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960120" y="3474720"/>
            <a:ext cx="470916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97280" y="3474720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7D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paypal.com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097280" y="402336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genuine domain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960120" y="4709160"/>
            <a:ext cx="4709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Tip: </a:t>
            </a:r>
            <a:r>
              <a:rPr lang="en-US" sz="11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 and a padlock icon are no longer a reliable </a:t>
            </a:r>
            <a:r>
              <a:rPr lang="en-US" sz="1150" b="1" dirty="0" smtClean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signal, </a:t>
            </a:r>
            <a:r>
              <a:rPr lang="en-US" sz="11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attackers use them too. The domain name is what matters.</a:t>
            </a:r>
            <a:endParaRPr lang="en-US" sz="1150" b="1" dirty="0"/>
          </a:p>
        </p:txBody>
      </p:sp>
      <p:sp>
        <p:nvSpPr>
          <p:cNvPr id="15" name="Text 13"/>
          <p:cNvSpPr/>
          <p:nvPr/>
        </p:nvSpPr>
        <p:spPr>
          <a:xfrm>
            <a:off x="6309360" y="146304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 WARNING SIGNS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309360" y="1874520"/>
            <a:ext cx="292608" cy="292608"/>
          </a:xfrm>
          <a:prstGeom prst="ellipse">
            <a:avLst/>
          </a:prstGeom>
          <a:solidFill>
            <a:srgbClr val="D64550"/>
          </a:solidFill>
          <a:ln/>
        </p:spPr>
      </p:sp>
      <p:sp>
        <p:nvSpPr>
          <p:cNvPr id="17" name="Text 15"/>
          <p:cNvSpPr/>
          <p:nvPr/>
        </p:nvSpPr>
        <p:spPr>
          <a:xfrm>
            <a:off x="6309360" y="18745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766560" y="1819656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inconsistencies — mismatched logos, low-res images, odd fonts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309360" y="2587752"/>
            <a:ext cx="292608" cy="292608"/>
          </a:xfrm>
          <a:prstGeom prst="ellipse">
            <a:avLst/>
          </a:prstGeom>
          <a:solidFill>
            <a:srgbClr val="D64550"/>
          </a:solidFill>
          <a:ln/>
        </p:spPr>
      </p:sp>
      <p:sp>
        <p:nvSpPr>
          <p:cNvPr id="20" name="Text 18"/>
          <p:cNvSpPr/>
          <p:nvPr/>
        </p:nvSpPr>
        <p:spPr>
          <a:xfrm>
            <a:off x="6309360" y="258775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766560" y="2532888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Broken or dead links elsewhere on the page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309360" y="3300984"/>
            <a:ext cx="292608" cy="292608"/>
          </a:xfrm>
          <a:prstGeom prst="ellipse">
            <a:avLst/>
          </a:prstGeom>
          <a:solidFill>
            <a:srgbClr val="D64550"/>
          </a:solidFill>
          <a:ln/>
        </p:spPr>
      </p:sp>
      <p:sp>
        <p:nvSpPr>
          <p:cNvPr id="23" name="Text 21"/>
          <p:cNvSpPr/>
          <p:nvPr/>
        </p:nvSpPr>
        <p:spPr>
          <a:xfrm>
            <a:off x="6309360" y="330098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766560" y="324612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forms requesting excessive personal data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309360" y="4014216"/>
            <a:ext cx="292608" cy="292608"/>
          </a:xfrm>
          <a:prstGeom prst="ellipse">
            <a:avLst/>
          </a:prstGeom>
          <a:solidFill>
            <a:srgbClr val="D64550"/>
          </a:solidFill>
          <a:ln/>
        </p:spPr>
      </p:sp>
      <p:sp>
        <p:nvSpPr>
          <p:cNvPr id="26" name="Text 24"/>
          <p:cNvSpPr/>
          <p:nvPr/>
        </p:nvSpPr>
        <p:spPr>
          <a:xfrm>
            <a:off x="6309360" y="401421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766560" y="3959352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Pop-ups demanding immediate action or downloads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6309360" y="4727448"/>
            <a:ext cx="292608" cy="292608"/>
          </a:xfrm>
          <a:prstGeom prst="ellipse">
            <a:avLst/>
          </a:prstGeom>
          <a:solidFill>
            <a:srgbClr val="D64550"/>
          </a:solidFill>
          <a:ln/>
        </p:spPr>
      </p:sp>
      <p:sp>
        <p:nvSpPr>
          <p:cNvPr id="29" name="Text 27"/>
          <p:cNvSpPr/>
          <p:nvPr/>
        </p:nvSpPr>
        <p:spPr>
          <a:xfrm>
            <a:off x="6309360" y="472744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6766560" y="4672584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verifiable contact info or company address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9AA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Awareness Training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Social Engineering Tactics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E7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human tricks attackers rely on </a:t>
            </a:r>
            <a:r>
              <a:rPr lang="en-US" sz="1300" i="1" dirty="0" smtClean="0">
                <a:solidFill>
                  <a:srgbClr val="E7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</a:t>
            </a:r>
            <a:r>
              <a:rPr lang="en-US" sz="1300" i="1" dirty="0">
                <a:solidFill>
                  <a:srgbClr val="E7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just the technology.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3566160" cy="2103120"/>
          </a:xfrm>
          <a:prstGeom prst="roundRect">
            <a:avLst>
              <a:gd name="adj" fmla="val 4348"/>
            </a:avLst>
          </a:prstGeom>
          <a:solidFill>
            <a:srgbClr val="121D33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9202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D645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68680" y="237744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Authority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8680" y="283464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7D1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Impersonating IT, HR, or an executive to pressure quick compliance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526280" y="1737360"/>
            <a:ext cx="3566160" cy="2103120"/>
          </a:xfrm>
          <a:prstGeom prst="roundRect">
            <a:avLst>
              <a:gd name="adj" fmla="val 4348"/>
            </a:avLst>
          </a:prstGeom>
          <a:solidFill>
            <a:srgbClr val="121D33"/>
          </a:solidFill>
          <a:ln/>
        </p:spPr>
      </p:sp>
      <p:sp>
        <p:nvSpPr>
          <p:cNvPr id="9" name="Text 7"/>
          <p:cNvSpPr/>
          <p:nvPr/>
        </p:nvSpPr>
        <p:spPr>
          <a:xfrm>
            <a:off x="4754880" y="19202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D645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4754880" y="237744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Urgency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754880" y="283464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7D1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Manufactured deadlines that short-circuit careful thinking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412480" y="1737360"/>
            <a:ext cx="3566160" cy="2103120"/>
          </a:xfrm>
          <a:prstGeom prst="roundRect">
            <a:avLst>
              <a:gd name="adj" fmla="val 4348"/>
            </a:avLst>
          </a:prstGeom>
          <a:solidFill>
            <a:srgbClr val="121D33"/>
          </a:solidFill>
          <a:ln/>
        </p:spPr>
      </p:sp>
      <p:sp>
        <p:nvSpPr>
          <p:cNvPr id="13" name="Text 11"/>
          <p:cNvSpPr/>
          <p:nvPr/>
        </p:nvSpPr>
        <p:spPr>
          <a:xfrm>
            <a:off x="8641080" y="19202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D645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8641080" y="237744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Pretexting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641080" y="283464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7D1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Inventing a believable scenario to extract information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40080" y="4160520"/>
            <a:ext cx="3566160" cy="2103120"/>
          </a:xfrm>
          <a:prstGeom prst="roundRect">
            <a:avLst>
              <a:gd name="adj" fmla="val 4348"/>
            </a:avLst>
          </a:prstGeom>
          <a:solidFill>
            <a:srgbClr val="121D33"/>
          </a:solidFill>
          <a:ln/>
        </p:spPr>
      </p:sp>
      <p:sp>
        <p:nvSpPr>
          <p:cNvPr id="17" name="Text 15"/>
          <p:cNvSpPr/>
          <p:nvPr/>
        </p:nvSpPr>
        <p:spPr>
          <a:xfrm>
            <a:off x="868680" y="434340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D645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868680" y="480060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Baiting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68680" y="525780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7D1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Dangling something enticing — a prize, a free download, a USB drive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526280" y="4160520"/>
            <a:ext cx="3566160" cy="2103120"/>
          </a:xfrm>
          <a:prstGeom prst="roundRect">
            <a:avLst>
              <a:gd name="adj" fmla="val 4348"/>
            </a:avLst>
          </a:prstGeom>
          <a:solidFill>
            <a:srgbClr val="121D33"/>
          </a:solidFill>
          <a:ln/>
        </p:spPr>
      </p:sp>
      <p:sp>
        <p:nvSpPr>
          <p:cNvPr id="21" name="Text 19"/>
          <p:cNvSpPr/>
          <p:nvPr/>
        </p:nvSpPr>
        <p:spPr>
          <a:xfrm>
            <a:off x="4754880" y="434340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D645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4754880" y="480060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Quid Pro Quo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4754880" y="525780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7D1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Offering a fake service or favor in exchange for access/data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8412480" y="4160520"/>
            <a:ext cx="3566160" cy="2103120"/>
          </a:xfrm>
          <a:prstGeom prst="roundRect">
            <a:avLst>
              <a:gd name="adj" fmla="val 4348"/>
            </a:avLst>
          </a:prstGeom>
          <a:solidFill>
            <a:srgbClr val="121D33"/>
          </a:solidFill>
          <a:ln/>
        </p:spPr>
      </p:sp>
      <p:sp>
        <p:nvSpPr>
          <p:cNvPr id="25" name="Text 23"/>
          <p:cNvSpPr/>
          <p:nvPr/>
        </p:nvSpPr>
        <p:spPr>
          <a:xfrm>
            <a:off x="8641080" y="434340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D645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8641080" y="480060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Tailgating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8641080" y="525780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7D1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Following an employee through a secure door without a badge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9AA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Awareness Training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0"/>
            <a:ext cx="91440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Real-World Case Study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17220" y="1170432"/>
            <a:ext cx="6858000" cy="4206240"/>
          </a:xfrm>
          <a:prstGeom prst="roundRect">
            <a:avLst>
              <a:gd name="adj" fmla="val 2609"/>
            </a:avLst>
          </a:prstGeom>
          <a:solidFill>
            <a:srgbClr val="F4F6F9"/>
          </a:solidFill>
          <a:ln/>
        </p:spPr>
      </p:sp>
      <p:sp>
        <p:nvSpPr>
          <p:cNvPr id="5" name="Text 3"/>
          <p:cNvSpPr/>
          <p:nvPr/>
        </p:nvSpPr>
        <p:spPr>
          <a:xfrm>
            <a:off x="960120" y="1691640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D64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$100M FAKE-VENDOR SCAM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960120" y="2057400"/>
            <a:ext cx="6217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Google &amp; Facebook, 2013–2015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960120" y="2651760"/>
            <a:ext cx="6217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attacker set up a fake company impersonating a real hardware supplier both firms already worked with. He sent convincing invoices and forged contracts through email, tricking finance staff into wiring payments to accounts he controlled.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60120" y="3931920"/>
            <a:ext cx="6217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SHOULD HAVE BEEN CAUGHT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960120" y="4297680"/>
            <a:ext cx="274320" cy="27432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10" name="Text 8"/>
          <p:cNvSpPr/>
          <p:nvPr/>
        </p:nvSpPr>
        <p:spPr>
          <a:xfrm>
            <a:off x="960120" y="42976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371600" y="425196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independent verification of new bank details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960120" y="4754880"/>
            <a:ext cx="274320" cy="27432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13" name="Text 11"/>
          <p:cNvSpPr/>
          <p:nvPr/>
        </p:nvSpPr>
        <p:spPr>
          <a:xfrm>
            <a:off x="960120" y="47548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371600" y="470916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Invoices approved without a callback to a known contact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960120" y="5212080"/>
            <a:ext cx="274320" cy="27432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16" name="Text 14"/>
          <p:cNvSpPr/>
          <p:nvPr/>
        </p:nvSpPr>
        <p:spPr>
          <a:xfrm>
            <a:off x="960120" y="52120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371600" y="516636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process had no secondary sign-off step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7772400" y="1417320"/>
            <a:ext cx="3749040" cy="4206240"/>
          </a:xfrm>
          <a:prstGeom prst="roundRect">
            <a:avLst>
              <a:gd name="adj" fmla="val 2927"/>
            </a:avLst>
          </a:prstGeom>
          <a:solidFill>
            <a:srgbClr val="1B2A4A"/>
          </a:solidFill>
          <a:ln/>
        </p:spPr>
      </p:sp>
      <p:sp>
        <p:nvSpPr>
          <p:cNvPr id="19" name="Text 17"/>
          <p:cNvSpPr/>
          <p:nvPr/>
        </p:nvSpPr>
        <p:spPr>
          <a:xfrm>
            <a:off x="8001000" y="219456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D645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$100M+</a:t>
            </a:r>
            <a:endParaRPr lang="en-US" sz="4400" dirty="0"/>
          </a:p>
        </p:txBody>
      </p:sp>
      <p:sp>
        <p:nvSpPr>
          <p:cNvPr id="20" name="Text 18"/>
          <p:cNvSpPr/>
          <p:nvPr/>
        </p:nvSpPr>
        <p:spPr>
          <a:xfrm>
            <a:off x="8001000" y="310896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7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amount fraudulently obtained across both companies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8001000" y="4114800"/>
            <a:ext cx="2834640" cy="0"/>
          </a:xfrm>
          <a:prstGeom prst="line">
            <a:avLst/>
          </a:prstGeom>
          <a:noFill/>
          <a:ln w="12700">
            <a:solidFill>
              <a:srgbClr val="3B4C7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001000" y="425196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2+</a:t>
            </a:r>
            <a:endParaRPr lang="en-US" sz="3200" dirty="0"/>
          </a:p>
        </p:txBody>
      </p:sp>
      <p:sp>
        <p:nvSpPr>
          <p:cNvPr id="23" name="Text 21"/>
          <p:cNvSpPr/>
          <p:nvPr/>
        </p:nvSpPr>
        <p:spPr>
          <a:xfrm>
            <a:off x="8001000" y="489204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7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years the scheme ran before it was detected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9AA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Awareness Training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0"/>
            <a:ext cx="91440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Best Practices &amp; Tips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417320"/>
            <a:ext cx="5349240" cy="1234440"/>
          </a:xfrm>
          <a:prstGeom prst="roundRect">
            <a:avLst>
              <a:gd name="adj" fmla="val 7407"/>
            </a:avLst>
          </a:prstGeom>
          <a:solidFill>
            <a:srgbClr val="F4F6F9"/>
          </a:solidFill>
          <a:ln/>
        </p:spPr>
      </p:sp>
      <p:sp>
        <p:nvSpPr>
          <p:cNvPr id="5" name="Shape 3"/>
          <p:cNvSpPr/>
          <p:nvPr/>
        </p:nvSpPr>
        <p:spPr>
          <a:xfrm>
            <a:off x="841248" y="1783080"/>
            <a:ext cx="502920" cy="502920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6" name="Text 4"/>
          <p:cNvSpPr/>
          <p:nvPr/>
        </p:nvSpPr>
        <p:spPr>
          <a:xfrm>
            <a:off x="841248" y="1783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508760" y="1581912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Verify independently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1508760" y="1947672"/>
            <a:ext cx="4297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unusual requests through a separate, known </a:t>
            </a:r>
            <a:r>
              <a:rPr lang="en-US" sz="1150" dirty="0" smtClean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</a:t>
            </a:r>
          </a:p>
          <a:p>
            <a:pPr marL="0" indent="0">
              <a:lnSpc>
                <a:spcPct val="115000"/>
              </a:lnSpc>
              <a:buNone/>
            </a:pPr>
            <a:r>
              <a:rPr lang="en-US" sz="1150" dirty="0" smtClean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call, don’t reply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263640" y="1417320"/>
            <a:ext cx="5349240" cy="1234440"/>
          </a:xfrm>
          <a:prstGeom prst="roundRect">
            <a:avLst>
              <a:gd name="adj" fmla="val 7407"/>
            </a:avLst>
          </a:prstGeom>
          <a:solidFill>
            <a:srgbClr val="F4F6F9"/>
          </a:solidFill>
          <a:ln/>
        </p:spPr>
      </p:sp>
      <p:sp>
        <p:nvSpPr>
          <p:cNvPr id="10" name="Shape 8"/>
          <p:cNvSpPr/>
          <p:nvPr/>
        </p:nvSpPr>
        <p:spPr>
          <a:xfrm>
            <a:off x="6464808" y="1783080"/>
            <a:ext cx="502920" cy="502920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11" name="Text 9"/>
          <p:cNvSpPr/>
          <p:nvPr/>
        </p:nvSpPr>
        <p:spPr>
          <a:xfrm>
            <a:off x="6464808" y="1783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7132320" y="1581912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Never click blind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7132320" y="1947672"/>
            <a:ext cx="4297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Hover links to preview the real URL before clicking anything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40080" y="2880360"/>
            <a:ext cx="5349240" cy="1234440"/>
          </a:xfrm>
          <a:prstGeom prst="roundRect">
            <a:avLst>
              <a:gd name="adj" fmla="val 7407"/>
            </a:avLst>
          </a:prstGeom>
          <a:solidFill>
            <a:srgbClr val="F4F6F9"/>
          </a:solidFill>
          <a:ln/>
        </p:spPr>
      </p:sp>
      <p:sp>
        <p:nvSpPr>
          <p:cNvPr id="15" name="Shape 13"/>
          <p:cNvSpPr/>
          <p:nvPr/>
        </p:nvSpPr>
        <p:spPr>
          <a:xfrm>
            <a:off x="841248" y="3246120"/>
            <a:ext cx="502920" cy="502920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16" name="Text 14"/>
          <p:cNvSpPr/>
          <p:nvPr/>
        </p:nvSpPr>
        <p:spPr>
          <a:xfrm>
            <a:off x="841248" y="32461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508760" y="3044952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Enable MFA everywhere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1508760" y="3410712"/>
            <a:ext cx="4297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Multi-factor authentication stops most credential theft cold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263640" y="2880360"/>
            <a:ext cx="5349240" cy="1234440"/>
          </a:xfrm>
          <a:prstGeom prst="roundRect">
            <a:avLst>
              <a:gd name="adj" fmla="val 7407"/>
            </a:avLst>
          </a:prstGeom>
          <a:solidFill>
            <a:srgbClr val="F4F6F9"/>
          </a:solidFill>
          <a:ln/>
        </p:spPr>
      </p:sp>
      <p:sp>
        <p:nvSpPr>
          <p:cNvPr id="20" name="Shape 18"/>
          <p:cNvSpPr/>
          <p:nvPr/>
        </p:nvSpPr>
        <p:spPr>
          <a:xfrm>
            <a:off x="6464808" y="3246120"/>
            <a:ext cx="502920" cy="502920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21" name="Text 19"/>
          <p:cNvSpPr/>
          <p:nvPr/>
        </p:nvSpPr>
        <p:spPr>
          <a:xfrm>
            <a:off x="6464808" y="32461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7132320" y="3044952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Report, don’t ignore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7132320" y="3410712"/>
            <a:ext cx="4297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 suspicious emails to your security team immediately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40080" y="4343400"/>
            <a:ext cx="5349240" cy="1234440"/>
          </a:xfrm>
          <a:prstGeom prst="roundRect">
            <a:avLst>
              <a:gd name="adj" fmla="val 7407"/>
            </a:avLst>
          </a:prstGeom>
          <a:solidFill>
            <a:srgbClr val="F4F6F9"/>
          </a:solidFill>
          <a:ln/>
        </p:spPr>
      </p:sp>
      <p:sp>
        <p:nvSpPr>
          <p:cNvPr id="25" name="Shape 23"/>
          <p:cNvSpPr/>
          <p:nvPr/>
        </p:nvSpPr>
        <p:spPr>
          <a:xfrm>
            <a:off x="841248" y="4709160"/>
            <a:ext cx="502920" cy="502920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26" name="Text 24"/>
          <p:cNvSpPr/>
          <p:nvPr/>
        </p:nvSpPr>
        <p:spPr>
          <a:xfrm>
            <a:off x="841248" y="47091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1508760" y="4507992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Keep software updated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1508760" y="4873752"/>
            <a:ext cx="4297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Patched browsers and email clients block known exploit kits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6263640" y="4343400"/>
            <a:ext cx="5349240" cy="1234440"/>
          </a:xfrm>
          <a:prstGeom prst="roundRect">
            <a:avLst>
              <a:gd name="adj" fmla="val 7407"/>
            </a:avLst>
          </a:prstGeom>
          <a:solidFill>
            <a:srgbClr val="F4F6F9"/>
          </a:solidFill>
          <a:ln/>
        </p:spPr>
      </p:sp>
      <p:sp>
        <p:nvSpPr>
          <p:cNvPr id="30" name="Shape 28"/>
          <p:cNvSpPr/>
          <p:nvPr/>
        </p:nvSpPr>
        <p:spPr>
          <a:xfrm>
            <a:off x="6464808" y="4709160"/>
            <a:ext cx="502920" cy="502920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31" name="Text 29"/>
          <p:cNvSpPr/>
          <p:nvPr/>
        </p:nvSpPr>
        <p:spPr>
          <a:xfrm>
            <a:off x="6464808" y="47091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7132320" y="4507992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Slow down under pressure</a:t>
            </a:r>
            <a:endParaRPr lang="en-US" sz="1450" dirty="0"/>
          </a:p>
        </p:txBody>
      </p:sp>
      <p:sp>
        <p:nvSpPr>
          <p:cNvPr id="33" name="Text 31"/>
          <p:cNvSpPr/>
          <p:nvPr/>
        </p:nvSpPr>
        <p:spPr>
          <a:xfrm>
            <a:off x="7132320" y="4873752"/>
            <a:ext cx="4297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Urgency is a tactic — a real request can survive one extra check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9AA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Awareness Training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-1371600"/>
            <a:ext cx="4572000" cy="4572000"/>
          </a:xfrm>
          <a:prstGeom prst="ellipse">
            <a:avLst/>
          </a:prstGeom>
          <a:solidFill>
            <a:srgbClr val="121D33"/>
          </a:solidFill>
          <a:ln/>
        </p:spPr>
      </p:sp>
      <p:sp>
        <p:nvSpPr>
          <p:cNvPr id="3" name="Shape 1"/>
          <p:cNvSpPr/>
          <p:nvPr/>
        </p:nvSpPr>
        <p:spPr>
          <a:xfrm>
            <a:off x="822960" y="914400"/>
            <a:ext cx="914400" cy="914400"/>
          </a:xfrm>
          <a:prstGeom prst="ellipse">
            <a:avLst/>
          </a:prstGeom>
          <a:solidFill>
            <a:srgbClr val="D64550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91440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822960" y="219456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Interactive Quiz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822960" y="29718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i="1" dirty="0">
                <a:solidFill>
                  <a:srgbClr val="D645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 Your Phishing Awareness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822960" y="379476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dirty="0">
                <a:solidFill>
                  <a:srgbClr val="E7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real-style </a:t>
            </a:r>
            <a:r>
              <a:rPr lang="en-US" dirty="0" smtClean="0">
                <a:solidFill>
                  <a:srgbClr val="E7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</a:t>
            </a:r>
            <a:r>
              <a:rPr lang="en-US" dirty="0">
                <a:solidFill>
                  <a:srgbClr val="E7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r>
              <a:rPr lang="en-US" dirty="0" smtClean="0">
                <a:solidFill>
                  <a:srgbClr val="E7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0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 1 of 3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9262872" y="256032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40079" y="1234440"/>
            <a:ext cx="6685631" cy="3858768"/>
          </a:xfrm>
          <a:prstGeom prst="roundRect">
            <a:avLst>
              <a:gd name="adj" fmla="val 2286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54380" y="1234440"/>
            <a:ext cx="6309360" cy="502920"/>
          </a:xfrm>
          <a:prstGeom prst="rect">
            <a:avLst/>
          </a:prstGeom>
          <a:solidFill>
            <a:srgbClr val="F0F2F6"/>
          </a:solidFill>
          <a:ln/>
        </p:spPr>
      </p:sp>
      <p:sp>
        <p:nvSpPr>
          <p:cNvPr id="7" name="Text 5"/>
          <p:cNvSpPr/>
          <p:nvPr/>
        </p:nvSpPr>
        <p:spPr>
          <a:xfrm>
            <a:off x="754380" y="1234440"/>
            <a:ext cx="61950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 smtClean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You </a:t>
            </a:r>
            <a:r>
              <a:rPr lang="en-US" sz="1400" b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 an unexpected email saying your account will be closed in 10 minutes. What should you do?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68680" y="1874520"/>
            <a:ext cx="5852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868680" y="1874520"/>
            <a:ext cx="585216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00" dirty="0"/>
              <a:t>A. Click the link immediately</a:t>
            </a:r>
            <a:br>
              <a:rPr lang="en-US" sz="1400" dirty="0"/>
            </a:br>
            <a:r>
              <a:rPr lang="en-US" sz="1400" dirty="0"/>
              <a:t>B. Enter your password</a:t>
            </a:r>
            <a:br>
              <a:rPr lang="en-US" sz="1400" dirty="0"/>
            </a:br>
            <a:r>
              <a:rPr lang="en-US" sz="1400" dirty="0"/>
              <a:t>C. Verify through the official website</a:t>
            </a:r>
            <a:br>
              <a:rPr lang="en-US" sz="1400" dirty="0"/>
            </a:br>
            <a:r>
              <a:rPr lang="en-US" sz="1400" dirty="0"/>
              <a:t>D. Forward your password to the sender</a:t>
            </a:r>
            <a:endParaRPr lang="en-US" sz="1400" dirty="0" smtClean="0">
              <a:solidFill>
                <a:srgbClr val="1B2A4A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lnSpc>
                <a:spcPct val="130000"/>
              </a:lnSpc>
              <a:buNone/>
            </a:pPr>
            <a:endParaRPr lang="en-US" sz="1150" dirty="0" smtClean="0"/>
          </a:p>
          <a:p>
            <a:pPr>
              <a:lnSpc>
                <a:spcPct val="130000"/>
              </a:lnSpc>
            </a:pPr>
            <a:r>
              <a:rPr lang="en-US" sz="1600" dirty="0"/>
              <a:t>✅ </a:t>
            </a:r>
            <a:r>
              <a:rPr lang="en-US" sz="1600" b="1" dirty="0"/>
              <a:t>Answer: C</a:t>
            </a:r>
            <a:endParaRPr lang="en-US" sz="1600" dirty="0"/>
          </a:p>
          <a:p>
            <a:pPr marL="0" indent="0">
              <a:lnSpc>
                <a:spcPct val="130000"/>
              </a:lnSpc>
              <a:buNone/>
            </a:pPr>
            <a:endParaRPr lang="en-US" sz="1150" dirty="0" smtClean="0"/>
          </a:p>
        </p:txBody>
      </p:sp>
      <p:sp>
        <p:nvSpPr>
          <p:cNvPr id="12" name="Text 10"/>
          <p:cNvSpPr/>
          <p:nvPr/>
        </p:nvSpPr>
        <p:spPr>
          <a:xfrm>
            <a:off x="7498080" y="14630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498080" y="178308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PHISHING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7498080" y="251460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911662" y="297180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7863840" y="352601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7882128" y="4315968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10195034" y="5093208"/>
            <a:ext cx="107037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9AA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Awareness Training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0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 2 of 3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9262872" y="256032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40080" y="1234439"/>
            <a:ext cx="7114032" cy="3379601"/>
          </a:xfrm>
          <a:prstGeom prst="roundRect">
            <a:avLst>
              <a:gd name="adj" fmla="val 2286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04147" y="1250730"/>
            <a:ext cx="6309360" cy="502920"/>
          </a:xfrm>
          <a:prstGeom prst="rect">
            <a:avLst/>
          </a:prstGeom>
          <a:solidFill>
            <a:srgbClr val="F0F2F6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1234440"/>
            <a:ext cx="5852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 smtClean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Someone </a:t>
            </a:r>
            <a:r>
              <a:rPr lang="en-US" sz="1400" b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calls claiming to be from your bank and asks for your OTP. Should you provide it?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68680" y="1874520"/>
            <a:ext cx="5852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868680" y="1874520"/>
            <a:ext cx="58521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28600" indent="-228600">
              <a:buAutoNum type="alphaUcPeriod"/>
            </a:pPr>
            <a:r>
              <a:rPr lang="en-US" dirty="0" smtClean="0"/>
              <a:t>Yes</a:t>
            </a:r>
          </a:p>
          <a:p>
            <a:pPr marL="228600" indent="-228600">
              <a:buAutoNum type="alphaUcPeriod"/>
            </a:pPr>
            <a:endParaRPr lang="en-US" dirty="0"/>
          </a:p>
          <a:p>
            <a:pPr marL="228600" indent="-228600">
              <a:buAutoNum type="alphaUcPeriod"/>
            </a:pPr>
            <a:r>
              <a:rPr lang="en-US" dirty="0" smtClean="0"/>
              <a:t> No</a:t>
            </a:r>
            <a:endParaRPr lang="en-US" dirty="0"/>
          </a:p>
          <a:p>
            <a:pPr marL="0" indent="0">
              <a:lnSpc>
                <a:spcPct val="130000"/>
              </a:lnSpc>
              <a:buNone/>
            </a:pPr>
            <a:endParaRPr lang="en-US" sz="1150" dirty="0" smtClean="0"/>
          </a:p>
          <a:p>
            <a:pPr>
              <a:lnSpc>
                <a:spcPct val="130000"/>
              </a:lnSpc>
            </a:pPr>
            <a:r>
              <a:rPr lang="en-US" sz="1400" dirty="0"/>
              <a:t>✅ Answer: </a:t>
            </a:r>
            <a:r>
              <a:rPr lang="en-US" sz="1400" b="1" dirty="0"/>
              <a:t>B</a:t>
            </a:r>
            <a:r>
              <a:rPr lang="en-US" sz="1400" dirty="0"/>
              <a:t> — </a:t>
            </a:r>
            <a:r>
              <a:rPr lang="en-US" sz="1400" b="1" dirty="0"/>
              <a:t>Never share your OTP.</a:t>
            </a:r>
            <a:endParaRPr lang="en-US" sz="1400" b="1" dirty="0"/>
          </a:p>
        </p:txBody>
      </p:sp>
      <p:sp>
        <p:nvSpPr>
          <p:cNvPr id="12" name="Text 10"/>
          <p:cNvSpPr/>
          <p:nvPr/>
        </p:nvSpPr>
        <p:spPr>
          <a:xfrm>
            <a:off x="7498080" y="14630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498080" y="178308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LEGITIMATE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7498080" y="251460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498080" y="283464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187558" y="2761488"/>
            <a:ext cx="307784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7882128" y="3538728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7882128" y="4315968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7498080" y="516636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882128" y="5093208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9AA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Awareness Training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0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 3 of 3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9262872" y="256032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40080" y="1234439"/>
            <a:ext cx="6496444" cy="3432153"/>
          </a:xfrm>
          <a:prstGeom prst="roundRect">
            <a:avLst>
              <a:gd name="adj" fmla="val 2286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3622" y="1280160"/>
            <a:ext cx="6309360" cy="502920"/>
          </a:xfrm>
          <a:prstGeom prst="rect">
            <a:avLst/>
          </a:prstGeom>
          <a:solidFill>
            <a:srgbClr val="F0F2F6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1234440"/>
            <a:ext cx="5852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 smtClean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Which </a:t>
            </a:r>
            <a:r>
              <a:rPr lang="en-US" sz="1600" b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a common phishing warning sign?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68680" y="1874520"/>
            <a:ext cx="5852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868680" y="1874520"/>
            <a:ext cx="5852160" cy="23042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dirty="0" smtClean="0"/>
              <a:t>A. Urgent </a:t>
            </a:r>
            <a:r>
              <a:rPr lang="en-US" dirty="0"/>
              <a:t>request</a:t>
            </a:r>
            <a:br>
              <a:rPr lang="en-US" dirty="0"/>
            </a:br>
            <a:r>
              <a:rPr lang="en-US" dirty="0"/>
              <a:t>B. Suspicious URL</a:t>
            </a:r>
            <a:br>
              <a:rPr lang="en-US" dirty="0"/>
            </a:br>
            <a:r>
              <a:rPr lang="en-US" dirty="0"/>
              <a:t>C. Unexpected attachment</a:t>
            </a:r>
            <a:br>
              <a:rPr lang="en-US" dirty="0"/>
            </a:br>
            <a:r>
              <a:rPr lang="en-US" dirty="0"/>
              <a:t>D. All of the </a:t>
            </a:r>
            <a:r>
              <a:rPr lang="en-US" dirty="0" smtClean="0"/>
              <a:t>above</a:t>
            </a:r>
          </a:p>
          <a:p>
            <a:pPr>
              <a:lnSpc>
                <a:spcPct val="130000"/>
              </a:lnSpc>
            </a:pPr>
            <a:endParaRPr lang="en-US" dirty="0" smtClean="0">
              <a:solidFill>
                <a:srgbClr val="1B2A4A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>
              <a:lnSpc>
                <a:spcPct val="130000"/>
              </a:lnSpc>
            </a:pPr>
            <a:r>
              <a:rPr lang="en-US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Answer: </a:t>
            </a:r>
            <a:r>
              <a:rPr lang="en-US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b="1" dirty="0" smtClean="0">
              <a:solidFill>
                <a:srgbClr val="1B2A4A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7498080" y="14630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498080" y="178308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7498080" y="251460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498080" y="283464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882128" y="2761488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7498080" y="361188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882128" y="3538728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7882128" y="4315968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7498080" y="516636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882128" y="5093208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9AA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Awareness Training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4114800"/>
            <a:ext cx="4572000" cy="4572000"/>
          </a:xfrm>
          <a:prstGeom prst="ellipse">
            <a:avLst/>
          </a:prstGeom>
          <a:solidFill>
            <a:srgbClr val="121D33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64008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58367" y="1417320"/>
            <a:ext cx="2789025" cy="0"/>
          </a:xfrm>
          <a:prstGeom prst="line">
            <a:avLst/>
          </a:prstGeom>
          <a:noFill/>
          <a:ln w="25400">
            <a:solidFill>
              <a:srgbClr val="D6455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2103120"/>
            <a:ext cx="457200" cy="457200"/>
          </a:xfrm>
          <a:prstGeom prst="ellipse">
            <a:avLst/>
          </a:prstGeom>
          <a:solidFill>
            <a:srgbClr val="D64550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2103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325880" y="2029968"/>
            <a:ext cx="9601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7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is the #1 entry point for real-world breaches — 90% start here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40080" y="2971800"/>
            <a:ext cx="457200" cy="457200"/>
          </a:xfrm>
          <a:prstGeom prst="ellipse">
            <a:avLst/>
          </a:prstGeom>
          <a:solidFill>
            <a:srgbClr val="D64550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971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325880" y="2898648"/>
            <a:ext cx="9601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7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 down: check the sender, the domain, and the tone before you act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40080" y="3840480"/>
            <a:ext cx="457200" cy="457200"/>
          </a:xfrm>
          <a:prstGeom prst="ellipse">
            <a:avLst/>
          </a:prstGeom>
          <a:solidFill>
            <a:srgbClr val="D64550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3840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325880" y="3767328"/>
            <a:ext cx="9601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7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unusual or urgent requests through a separate, trusted channel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40080" y="4709160"/>
            <a:ext cx="457200" cy="457200"/>
          </a:xfrm>
          <a:prstGeom prst="ellipse">
            <a:avLst/>
          </a:prstGeom>
          <a:solidFill>
            <a:srgbClr val="D64550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4709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325880" y="4636008"/>
            <a:ext cx="9601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7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MFA and reporting suspicious messages are your strongest safety nets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40080" y="5641848"/>
            <a:ext cx="731520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i="1" dirty="0">
                <a:solidFill>
                  <a:srgbClr val="D645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 — stay alert, stay secure</a:t>
            </a:r>
            <a:r>
              <a:rPr lang="en-US" i="1" dirty="0" smtClean="0">
                <a:solidFill>
                  <a:srgbClr val="D645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.</a:t>
            </a:r>
          </a:p>
          <a:p>
            <a:r>
              <a:rPr lang="en-US" dirty="0">
                <a:solidFill>
                  <a:srgbClr val="FF5050"/>
                </a:solidFill>
              </a:rPr>
              <a:t>Think Before You Click!</a:t>
            </a:r>
            <a:endParaRPr lang="en-US" dirty="0">
              <a:solidFill>
                <a:srgbClr val="FF5050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</TotalTime>
  <Words>870</Words>
  <Application>Microsoft Office PowerPoint</Application>
  <PresentationFormat>Widescreen</PresentationFormat>
  <Paragraphs>204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DC</cp:lastModifiedBy>
  <cp:revision>6</cp:revision>
  <dcterms:created xsi:type="dcterms:W3CDTF">2026-09-23T17:36:04Z</dcterms:created>
  <dcterms:modified xsi:type="dcterms:W3CDTF">2026-09-23T18:25:38Z</dcterms:modified>
</cp:coreProperties>
</file>